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74320"/>
            <a:ext cx="4114800" cy="1371600"/>
          </a:xfrm>
          <a:prstGeom prst="RECTANGLE">
            <a:avLst/>
          </a:prstGeom>
          <a:solidFill>
            <a:srgbClr val="0A84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2926080"/>
          </a:xfrm>
          <a:prstGeom prst="RECTANGLE">
            <a:avLst/>
          </a:prstGeom>
          <a:solidFill>
            <a:srgbClr val="0A84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54864" cy="420624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A84FF"/>
                </a:solidFill>
              </a:rPr>
              <a:t>AUTONOMOUS QUANT LAB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82296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Alpha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58368" y="26974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Multi-Agent Framework for Autonomous Scientific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in Quantitative Finance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520440"/>
            <a:ext cx="1600200" cy="384048"/>
          </a:xfrm>
          <a:prstGeom prst="ROUNDED_RECTANGLE">
            <a:avLst>
              <a:gd name="adj" fmla="val 19048"/>
            </a:avLst>
          </a:prstGeom>
          <a:solidFill>
            <a:srgbClr val="0A84FF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520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3712464"/>
            <a:ext cx="21945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32888" y="3520440"/>
            <a:ext cx="1600200" cy="384048"/>
          </a:xfrm>
          <a:prstGeom prst="ROUNDED_RECTANGLE">
            <a:avLst>
              <a:gd name="adj" fmla="val 19048"/>
            </a:avLst>
          </a:prstGeom>
          <a:solidFill>
            <a:srgbClr val="FF4D6A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3520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3712464"/>
            <a:ext cx="219456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3520440"/>
            <a:ext cx="1600200" cy="384048"/>
          </a:xfrm>
          <a:prstGeom prst="ROUNDED_RECTANGLE">
            <a:avLst>
              <a:gd name="adj" fmla="val 19048"/>
            </a:avLst>
          </a:prstGeom>
          <a:solidFill>
            <a:srgbClr val="F5A623">
              <a:alpha val="2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35204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JUDGE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041648"/>
            <a:ext cx="594360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Python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8424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LangGraph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Backtrader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3600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ChromaDB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6188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yfinance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8776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edgartools</a:t>
            </a:r>
            <a:endParaRPr lang="en-US" sz="9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7132320" y="914400"/>
            <a:ext cx="1463040" cy="146304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Quant Research is Failing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faces four compounding crises that demand an autonomous solution.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1371600"/>
          </a:xfrm>
          <a:prstGeom prst="RECTANGLE">
            <a:avLst/>
          </a:prstGeom>
          <a:solidFill>
            <a:srgbClr val="0A84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Decay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inefficiencies disappear once discovered. Competitive markets absorb information faster than humans can generate new edge.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4173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17320"/>
            <a:ext cx="36576" cy="1371600"/>
          </a:xfrm>
          <a:prstGeom prst="RECTANGLE">
            <a:avLst/>
          </a:prstGeom>
          <a:solidFill>
            <a:srgbClr val="FF4D6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373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3212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inadvertently fit strategies to historical noise—models excel in backtests but collapse in live markets.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0175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017520"/>
            <a:ext cx="36576" cy="1371600"/>
          </a:xfrm>
          <a:prstGeom prst="RECTANGLE">
            <a:avLst/>
          </a:prstGeom>
          <a:solidFill>
            <a:srgbClr val="F5A62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375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Look-Ahead Bias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4300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information unintentionally leaks into training data, creating unrealistic performance expectations.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46320" y="3017520"/>
            <a:ext cx="4114800" cy="137160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017520"/>
            <a:ext cx="36576" cy="1371600"/>
          </a:xfrm>
          <a:prstGeom prst="RECTANGLE">
            <a:avLst/>
          </a:prstGeom>
          <a:solidFill>
            <a:srgbClr val="00C2C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375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3212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Bottlenecks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32120" y="3474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bandwidth, slow hypothesis cycles, and cognitive bias throttle the pace of discovery.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4663440"/>
            <a:ext cx="8229600" cy="347472"/>
          </a:xfrm>
          <a:prstGeom prst="RECTANGLE">
            <a:avLst/>
          </a:prstGeom>
          <a:solidFill>
            <a:srgbClr val="0A84FF">
              <a:alpha val="12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SOLUTION  →  AI agents autonomously generate hypotheses · Competing agents challenge assumptions · Continuous experimentation at machine speed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DATASETS · NUMERICAL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Lake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· 10 years · OHLCV · yfinance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4538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yfinance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16916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Source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03120" y="1984248"/>
            <a:ext cx="0" cy="237744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21854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84FF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221992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21992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2258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Ingestion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" y="24963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Download &amp; Validate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2788920"/>
            <a:ext cx="0" cy="237744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93392" y="299008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84FF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26664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3063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Data Lake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" y="33009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Parquet / SQLite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3593592"/>
            <a:ext cx="0" cy="237744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93392" y="37947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A84FF"/>
                </a:solidFill>
              </a:rPr>
              <a:t>▼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3291840" cy="566928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31336"/>
            <a:ext cx="36576" cy="56692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3867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Backtrader Engine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5216" y="41056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Simulation-Ready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60520" y="1417320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51960" y="15270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1453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Deterministic Testing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1709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Same dataset every experiment — fully reproducible research.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60520" y="2221992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51960" y="2331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2258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External Dependencies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25146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No API downtime, latency, or changing data sources.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60520" y="3026664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51960" y="31363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3063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Version-Controlled Data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33192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Enables rigorous benchmarking and scientific repeatability.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60520" y="3831336"/>
            <a:ext cx="4526280" cy="566928"/>
          </a:xfrm>
          <a:prstGeom prst="RECTANGLE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51960" y="394106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0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Faster Backtesting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0" y="412394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Local I/O eliminates network overhead.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60520" y="4617720"/>
            <a:ext cx="4526280" cy="411480"/>
          </a:xfrm>
          <a:prstGeom prst="RECTANGLE">
            <a:avLst/>
          </a:prstGeom>
          <a:solidFill>
            <a:srgbClr val="0A84FF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251960" y="4617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500 tickers  ·  10 years  ·  ~1.25M daily bars  ·  OHLCV + Adjusted Close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DATASETS · TEXTUAL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Semantic Alpha from SEC Filings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edgartools · 10-K filings · Risk Factors · MD&amp;A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512064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A84FF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27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Filing Ingestion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03120" y="1929384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75688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75688"/>
            <a:ext cx="36576" cy="512064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16712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A84FF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1854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Parsing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103120" y="2587752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34056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734056"/>
            <a:ext cx="36576" cy="512064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825496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C2CB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25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28437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Interpretation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03120" y="3246120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92424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392424"/>
            <a:ext cx="36576" cy="512064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483864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C2CB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5021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Economic Signal Extraction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03120" y="3904488"/>
            <a:ext cx="0" cy="146304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50792"/>
            <a:ext cx="3840480" cy="512064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050792"/>
            <a:ext cx="36576" cy="512064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142232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D4AA">
              <a:alpha val="3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142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5840" y="4160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Strategy Hypothesis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1417320"/>
            <a:ext cx="2148840" cy="2377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417320"/>
            <a:ext cx="2148840" cy="347472"/>
          </a:xfrm>
          <a:prstGeom prst="RECTANGLE">
            <a:avLst/>
          </a:prstGeom>
          <a:solidFill>
            <a:srgbClr val="FF4D6A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Factors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Operational threats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Regulatory concerns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5488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Competitive risks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95160" y="1417320"/>
            <a:ext cx="2148840" cy="2377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95160" y="1417320"/>
            <a:ext cx="2148840" cy="347472"/>
          </a:xfrm>
          <a:prstGeom prst="RECTANGL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068312" y="1417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MD&amp;A Section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086600" y="1828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Executive commentary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08660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Future outlook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866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→  Strategic priorities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977640"/>
            <a:ext cx="4389120" cy="105156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48" name="Shape 46"/>
          <p:cNvSpPr/>
          <p:nvPr/>
        </p:nvSpPr>
        <p:spPr>
          <a:xfrm>
            <a:off x="4663440" y="3977640"/>
            <a:ext cx="36576" cy="105156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</a:rPr>
              <a:t>EXAMPLE INSIGHT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54880" y="4206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EEFF"/>
                </a:solidFill>
              </a:rPr>
              <a:t>Filing signal: "Supply-chain disruptions and inventory uncertainty"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5488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Hypothesis → Firms with elevated supply-chain risk underperform peers during slowdowns.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ARCHITECTURE · COGNITIVE LAYER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Machine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orchestration engine coordinating all autonomous agents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270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840480" cy="365760"/>
          </a:xfrm>
          <a:prstGeom prst="RECTANGLE">
            <a:avLst/>
          </a:prstGeom>
          <a:solidFill>
            <a:srgbClr val="0A84FF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State Object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847088"/>
            <a:ext cx="73152" cy="237744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sec_insights: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1847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SEC Insights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2304288"/>
            <a:ext cx="73152" cy="237744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3042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strategy_code: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23042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Strategy Code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2761488"/>
            <a:ext cx="73152" cy="237744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7614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backtest_metrics: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2761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Backtest Metrics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218688"/>
            <a:ext cx="73152" cy="237744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18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4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critic_analysis: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2186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Critic Analysis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" y="3675888"/>
            <a:ext cx="73152" cy="237744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75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judge_verdict: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103120" y="36758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Judge Verdict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" y="4133088"/>
            <a:ext cx="73152" cy="237744"/>
          </a:xfrm>
          <a:prstGeom prst="RECTANGLE">
            <a:avLst/>
          </a:prstGeom>
          <a:solidFill>
            <a:srgbClr val="7A9CC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33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memory_refs: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41330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Memory References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F5A623">
              <a:alpha val="2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93776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Insights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A84FF">
              <a:alpha val="2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141732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14173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274320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FF4D6A">
              <a:alpha val="2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583680" y="274320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4D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2743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D4AA">
              <a:alpha val="2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069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C2CB">
              <a:alpha val="2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37760" y="4069080"/>
            <a:ext cx="1463040" cy="822960"/>
          </a:xfrm>
          <a:prstGeom prst="ROUNDED_RECTANGLE">
            <a:avLst>
              <a:gd name="adj" fmla="val 1111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069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Alpha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Vault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1828800"/>
            <a:ext cx="18288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2240280"/>
            <a:ext cx="0" cy="50292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60336" y="26791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315200" y="3566160"/>
            <a:ext cx="0" cy="50292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40050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583680" y="4480560"/>
            <a:ext cx="-54864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1828800"/>
            <a:ext cx="914400" cy="0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1746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A9CC4"/>
                </a:solidFill>
              </a:rPr>
              <a:t>Iterative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7A9CC4"/>
                </a:solidFill>
              </a:rPr>
              <a:t>Feedback Loop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86400" y="2194560"/>
            <a:ext cx="0" cy="2194560"/>
          </a:xfrm>
          <a:prstGeom prst="LINE">
            <a:avLst/>
          </a:prstGeom>
          <a:noFill/>
          <a:ln w="9525">
            <a:solidFill>
              <a:srgbClr val="4A6080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ARCHITECTURE · EXECUTION SANDBOX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Strategy Evaluation Environment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code execution · Isolated simulation · Standardized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A84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35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8013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Strategy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47672" y="1920240"/>
            <a:ext cx="201168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A84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14884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A8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435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84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48840" y="18013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Compiled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39312" y="1920240"/>
            <a:ext cx="201168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C2CB">
              <a:alpha val="1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435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CB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0" y="18013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Backtrader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Loaded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30952" y="1920240"/>
            <a:ext cx="201168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C2CB">
              <a:alpha val="1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C2C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435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CB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18013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Simulation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22592" y="1920240"/>
            <a:ext cx="201168" cy="0"/>
          </a:xfrm>
          <a:prstGeom prst="LINE">
            <a:avLst/>
          </a:prstGeom>
          <a:noFill/>
          <a:ln w="19050">
            <a:solidFill>
              <a:srgbClr val="4A60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847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D4AA">
              <a:alpha val="1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223760" y="1417320"/>
            <a:ext cx="1463040" cy="1005840"/>
          </a:xfrm>
          <a:prstGeom prst="ROUNDED_RECTANGLE">
            <a:avLst>
              <a:gd name="adj" fmla="val 9091"/>
            </a:avLst>
          </a:prstGeom>
          <a:solidFill>
            <a:srgbClr val="000000">
              <a:alpha val="0"/>
            </a:srgbClr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1435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23760" y="18013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Metrics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Returned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606040"/>
            <a:ext cx="4937760" cy="1234440"/>
          </a:xfrm>
          <a:prstGeom prst="RECTANGLE">
            <a:avLst/>
          </a:prstGeom>
          <a:solidFill>
            <a:srgbClr val="0A0F1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2606040"/>
            <a:ext cx="4937760" cy="256032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strategy.py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" y="2898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indent="0" marL="0">
              <a:buNone/>
            </a:pPr>
            <a:r>
              <a:rPr lang="en-US" sz="1100" dirty="0">
                <a:solidFill>
                  <a:srgbClr val="00C2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AlphaStrategy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(bt.Strategy):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31821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</a:t>
            </a:r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3429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Generated by Creator Agent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1417320"/>
            <a:ext cx="155448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41" name="Shape 39"/>
          <p:cNvSpPr/>
          <p:nvPr/>
        </p:nvSpPr>
        <p:spPr>
          <a:xfrm>
            <a:off x="5577840" y="1417320"/>
            <a:ext cx="36576" cy="68580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42" name="Text 40"/>
          <p:cNvSpPr/>
          <p:nvPr/>
        </p:nvSpPr>
        <p:spPr>
          <a:xfrm>
            <a:off x="5687568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69480" y="1417320"/>
            <a:ext cx="155448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44" name="Shape 42"/>
          <p:cNvSpPr/>
          <p:nvPr/>
        </p:nvSpPr>
        <p:spPr>
          <a:xfrm>
            <a:off x="7269480" y="1417320"/>
            <a:ext cx="36576" cy="68580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5" name="Text 43"/>
          <p:cNvSpPr/>
          <p:nvPr/>
        </p:nvSpPr>
        <p:spPr>
          <a:xfrm>
            <a:off x="7379208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577840" y="2377440"/>
            <a:ext cx="155448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47" name="Shape 45"/>
          <p:cNvSpPr/>
          <p:nvPr/>
        </p:nvSpPr>
        <p:spPr>
          <a:xfrm>
            <a:off x="5577840" y="2377440"/>
            <a:ext cx="36576" cy="6858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48" name="Text 46"/>
          <p:cNvSpPr/>
          <p:nvPr/>
        </p:nvSpPr>
        <p:spPr>
          <a:xfrm>
            <a:off x="5687568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Win Rate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69480" y="2377440"/>
            <a:ext cx="155448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50" name="Shape 48"/>
          <p:cNvSpPr/>
          <p:nvPr/>
        </p:nvSpPr>
        <p:spPr>
          <a:xfrm>
            <a:off x="7269480" y="2377440"/>
            <a:ext cx="36576" cy="6858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51" name="Text 49"/>
          <p:cNvSpPr/>
          <p:nvPr/>
        </p:nvSpPr>
        <p:spPr>
          <a:xfrm>
            <a:off x="7379208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Drawdown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577840" y="2606040"/>
            <a:ext cx="3246120" cy="50292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53" name="Shape 51"/>
          <p:cNvSpPr/>
          <p:nvPr/>
        </p:nvSpPr>
        <p:spPr>
          <a:xfrm>
            <a:off x="5577840" y="2606040"/>
            <a:ext cx="36576" cy="5029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4" name="Text 52"/>
          <p:cNvSpPr/>
          <p:nvPr/>
        </p:nvSpPr>
        <p:spPr>
          <a:xfrm>
            <a:off x="5669280" y="2633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Isolated Execution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669280" y="28529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Local env · No internet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77840" y="3246120"/>
            <a:ext cx="3246120" cy="50292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57" name="Shape 55"/>
          <p:cNvSpPr/>
          <p:nvPr/>
        </p:nvSpPr>
        <p:spPr>
          <a:xfrm>
            <a:off x="5577840" y="3246120"/>
            <a:ext cx="36576" cy="5029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8" name="Text 56"/>
          <p:cNvSpPr/>
          <p:nvPr/>
        </p:nvSpPr>
        <p:spPr>
          <a:xfrm>
            <a:off x="5669280" y="327355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Fixed Dataset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34930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Controlled inputs only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77840" y="3886200"/>
            <a:ext cx="3246120" cy="50292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61" name="Shape 59"/>
          <p:cNvSpPr/>
          <p:nvPr/>
        </p:nvSpPr>
        <p:spPr>
          <a:xfrm>
            <a:off x="5577840" y="3886200"/>
            <a:ext cx="36576" cy="5029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62" name="Text 60"/>
          <p:cNvSpPr/>
          <p:nvPr/>
        </p:nvSpPr>
        <p:spPr>
          <a:xfrm>
            <a:off x="5669280" y="39136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Repeatable Tests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669280" y="41330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Consistent benchmarks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6576" cy="514350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5" name="Text 3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AGENT 1 · CREATOR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Generation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data into executable investment strategies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76479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Economic Interpretation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0756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Transforms SEC insights into market narratives and economic hypotheses.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532888"/>
            <a:ext cx="512064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ot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80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7706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 Synthesis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" y="3081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Generates entry/exit conditions and risk controls from hypotheses.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3538728"/>
            <a:ext cx="512064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ot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86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7764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Production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05840" y="40873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Outputs fully executable Backtrader strategies as Python code strings.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080760" y="3840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EXAMPLE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080760" y="685800"/>
            <a:ext cx="2834640" cy="54864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1" name="Shape 16"/>
          <p:cNvSpPr/>
          <p:nvPr/>
        </p:nvSpPr>
        <p:spPr>
          <a:xfrm>
            <a:off x="6080760" y="685800"/>
            <a:ext cx="36576" cy="54864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22" name="Text 17"/>
          <p:cNvSpPr/>
          <p:nvPr/>
        </p:nvSpPr>
        <p:spPr>
          <a:xfrm>
            <a:off x="6172200" y="7040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5A623"/>
                </a:solidFill>
              </a:rPr>
              <a:t>INPUT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6172200" y="8869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2EEFF"/>
                </a:solidFill>
              </a:rPr>
              <a:t>Rising regulatory risk across multiple filings.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498080" y="1252728"/>
            <a:ext cx="0" cy="201168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443216" y="13990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6080760" y="1600200"/>
            <a:ext cx="2834640" cy="64008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7" name="Shape 22"/>
          <p:cNvSpPr/>
          <p:nvPr/>
        </p:nvSpPr>
        <p:spPr>
          <a:xfrm>
            <a:off x="6080760" y="1600200"/>
            <a:ext cx="36576" cy="64008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8" name="Text 23"/>
          <p:cNvSpPr/>
          <p:nvPr/>
        </p:nvSpPr>
        <p:spPr>
          <a:xfrm>
            <a:off x="6172200" y="16184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A84FF"/>
                </a:solidFill>
              </a:rPr>
              <a:t>HYPOTHESIS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6172200" y="18013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EFF"/>
                </a:solidFill>
              </a:rPr>
              <a:t>Regulatory uncertainty → higher volatility → negative future returns.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7498080" y="2258568"/>
            <a:ext cx="0" cy="201168"/>
          </a:xfrm>
          <a:prstGeom prst="LINE">
            <a:avLst/>
          </a:prstGeom>
          <a:noFill/>
          <a:ln w="12700">
            <a:solidFill>
              <a:srgbClr val="4A608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443216" y="2404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6080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6080760" y="2606040"/>
            <a:ext cx="2834640" cy="64008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3" name="Shape 28"/>
          <p:cNvSpPr/>
          <p:nvPr/>
        </p:nvSpPr>
        <p:spPr>
          <a:xfrm>
            <a:off x="6080760" y="2606040"/>
            <a:ext cx="36576" cy="64008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34" name="Text 29"/>
          <p:cNvSpPr/>
          <p:nvPr/>
        </p:nvSpPr>
        <p:spPr>
          <a:xfrm>
            <a:off x="6172200" y="26243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C2CB"/>
                </a:solidFill>
              </a:rPr>
              <a:t>STRATEGY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6172200" y="28072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EFF"/>
                </a:solidFill>
              </a:rPr>
              <a:t>Short high-risk firms · Long low-risk peers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AGENT 2 · CRITIC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Team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is not robust until it survives adversarial testing.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00200"/>
            <a:ext cx="36576" cy="6858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Transaction Costs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Brokerage commissions on every trade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1600200"/>
            <a:ext cx="36576" cy="6858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673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Slippage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19476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Execution price deviation from signal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14600"/>
            <a:ext cx="36576" cy="68580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587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Delayed order execution penalties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2514600"/>
            <a:ext cx="260604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0" name="Shape 18"/>
          <p:cNvSpPr/>
          <p:nvPr/>
        </p:nvSpPr>
        <p:spPr>
          <a:xfrm>
            <a:off x="3291840" y="2514600"/>
            <a:ext cx="36576" cy="68580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25877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Spread Effects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01568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Bid-ask realities on entry &amp; exit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627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D6A"/>
                </a:solidFill>
              </a:rPr>
              <a:t>FRAGILITY DETECTION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17920" y="189280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89280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18928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Overfitting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225856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225856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258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Data Leakage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62432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262432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624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Survivorship Bias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2990088"/>
            <a:ext cx="2743200" cy="292608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4" name="Shape 32"/>
          <p:cNvSpPr/>
          <p:nvPr/>
        </p:nvSpPr>
        <p:spPr>
          <a:xfrm>
            <a:off x="6217920" y="2990088"/>
            <a:ext cx="36576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2990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EFF"/>
                </a:solidFill>
              </a:rPr>
              <a:t>⚠  Unrealistic Assumptions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584448"/>
            <a:ext cx="8229600" cy="1325880"/>
          </a:xfrm>
          <a:prstGeom prst="RECTANGLE">
            <a:avLst/>
          </a:prstGeom>
          <a:solidFill>
            <a:srgbClr val="0F20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584448"/>
            <a:ext cx="36576" cy="132588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611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D6A"/>
                </a:solidFill>
              </a:rPr>
              <a:t>STRESS TEST RESULT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9728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AA"/>
                </a:solidFill>
              </a:rPr>
              <a:t>2.10</a:t>
            </a:r>
            <a:endParaRPr lang="en-US" sz="4400" dirty="0"/>
          </a:p>
        </p:txBody>
      </p:sp>
      <p:sp>
        <p:nvSpPr>
          <p:cNvPr id="40" name="Text 38"/>
          <p:cNvSpPr/>
          <p:nvPr/>
        </p:nvSpPr>
        <p:spPr>
          <a:xfrm>
            <a:off x="1097280" y="4462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Original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Sharpe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0" y="4069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080"/>
                </a:solidFill>
              </a:rPr>
              <a:t>→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84048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D6A"/>
                </a:solidFill>
              </a:rPr>
              <a:t>0.60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3840480" y="4462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After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A9CC4"/>
                </a:solidFill>
              </a:rPr>
              <a:t>Friction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43600" y="3886200"/>
            <a:ext cx="2560320" cy="640080"/>
          </a:xfrm>
          <a:prstGeom prst="ROUNDED_RECTANGLE">
            <a:avLst>
              <a:gd name="adj" fmla="val 11429"/>
            </a:avLst>
          </a:prstGeom>
          <a:solidFill>
            <a:srgbClr val="FF4D6A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0" y="3886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✗  STRATEGY REJECTED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AGENT 3 · JUDGE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Memory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consistency · Semantic audit · ChromaDB vector memory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73152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36576" cy="73152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61848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0D4AA">
              <a:alpha val="2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18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490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Strategy Validity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013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Economic justification exists for the hypothesis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73152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77440"/>
            <a:ext cx="36576" cy="73152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257860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F5A623">
              <a:alpha val="2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Logical Consistency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761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Strategy behavior matches its stated rationale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4114800" cy="73152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337560"/>
            <a:ext cx="36576" cy="7315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3538728"/>
            <a:ext cx="329184" cy="329184"/>
          </a:xfrm>
          <a:prstGeom prst="ROUNDED_RECTANGLE">
            <a:avLst>
              <a:gd name="adj" fmla="val 13889"/>
            </a:avLst>
          </a:prstGeom>
          <a:solidFill>
            <a:srgbClr val="0A84FF">
              <a:alpha val="28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410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Experimental Integrity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7216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Proper testing methodology was followed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3840480" cy="34290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1371600"/>
            <a:ext cx="3840480" cy="384048"/>
          </a:xfrm>
          <a:prstGeom prst="RECTANGLE">
            <a:avLst/>
          </a:prstGeom>
          <a:solidFill>
            <a:srgbClr val="00C2CB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ChromaDB Vector Memory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1874520"/>
            <a:ext cx="91440" cy="29260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Previous Hypotheses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2377440"/>
            <a:ext cx="91440" cy="292608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3957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Failed Experiments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83480" y="2880360"/>
            <a:ext cx="91440" cy="292608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8986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Critic Findings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3383280"/>
            <a:ext cx="91440" cy="292608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EFF"/>
                </a:solidFill>
              </a:rPr>
              <a:t>Successful Patterns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3931920"/>
            <a:ext cx="3566160" cy="0"/>
          </a:xfrm>
          <a:prstGeom prst="LINE">
            <a:avLst/>
          </a:prstGeom>
          <a:noFill/>
          <a:ln w="6350">
            <a:solidFill>
              <a:srgbClr val="4A6080"/>
            </a:solidFill>
            <a:prstDash val="dot"/>
          </a:ln>
        </p:spPr>
      </p:sp>
      <p:sp>
        <p:nvSpPr>
          <p:cNvPr id="36" name="Text 34"/>
          <p:cNvSpPr/>
          <p:nvPr/>
        </p:nvSpPr>
        <p:spPr>
          <a:xfrm>
            <a:off x="4983480" y="3986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2CB"/>
                </a:solidFill>
              </a:rPr>
              <a:t>MEMORY-DRIVEN DECISION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8348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CC4"/>
                </a:solidFill>
              </a:rPr>
              <a:t>1. Embed new strategy  ·  2. Retrieve similar history  ·  3. Analyze prior failures  ·  4. Issue verdict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IMPLEMENTATION · FOUNDATION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1–3: Building the Foundation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02920"/>
          </a:xfrm>
          <a:prstGeom prst="RECTANGLE">
            <a:avLst/>
          </a:prstGeom>
          <a:solidFill>
            <a:srgbClr val="0A84FF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Ingestion Layer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Build local market database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Download 10 years OHLCV data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Collect SEC filings with edgartools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2651760" cy="502920"/>
          </a:xfrm>
          <a:prstGeom prst="RECTANGLE">
            <a:avLst/>
          </a:prstGeom>
          <a:solidFill>
            <a:srgbClr val="0A84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343400"/>
            <a:ext cx="36576" cy="5029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Structured Local Data Lake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25880"/>
            <a:ext cx="2651760" cy="502920"/>
          </a:xfrm>
          <a:prstGeom prst="RECTANGLE">
            <a:avLst/>
          </a:prstGeom>
          <a:solidFill>
            <a:srgbClr val="00C2CB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Sandbox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Configure Backtrader engine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Implement dynamic code execution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CB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Generate performance reports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4343400"/>
            <a:ext cx="2651760" cy="502920"/>
          </a:xfrm>
          <a:prstGeom prst="RECTANGLE">
            <a:avLst/>
          </a:prstGeom>
          <a:solidFill>
            <a:srgbClr val="00C2CB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4343400"/>
            <a:ext cx="36576" cy="50292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4" name="Text 22"/>
          <p:cNvSpPr/>
          <p:nvPr/>
        </p:nvSpPr>
        <p:spPr>
          <a:xfrm>
            <a:off x="344728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Secure Simulation Environment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25880"/>
            <a:ext cx="2651760" cy="502920"/>
          </a:xfrm>
          <a:prstGeom prst="RECTANGLE">
            <a:avLst/>
          </a:prstGeom>
          <a:solidFill>
            <a:srgbClr val="00D4AA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Vector Ledger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Deploy ChromaDB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Create experiment memory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Enable semantic retrieval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343400"/>
            <a:ext cx="2651760" cy="502920"/>
          </a:xfrm>
          <a:prstGeom prst="RECTANGLE">
            <a:avLst/>
          </a:prstGeom>
          <a:solidFill>
            <a:srgbClr val="00D4AA">
              <a:alpha val="1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4343400"/>
            <a:ext cx="36576" cy="50292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Searchable Research History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IMPLEMENTATION · 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4–6: Autonomous Research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02920"/>
          </a:xfrm>
          <a:prstGeom prst="RECTANGLE">
            <a:avLst/>
          </a:prstGeom>
          <a:solidFill>
            <a:srgbClr val="0A84FF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Creator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Connect LLM reasoning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Automate hypothesis generation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84FF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SEC → strategy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2651760" cy="502920"/>
          </a:xfrm>
          <a:prstGeom prst="RECTANGLE">
            <a:avLst/>
          </a:prstGeom>
          <a:solidFill>
            <a:srgbClr val="0A84FF">
              <a:alpha val="1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343400"/>
            <a:ext cx="36576" cy="50292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Working Creator 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3756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1325880"/>
            <a:ext cx="2651760" cy="502920"/>
          </a:xfrm>
          <a:prstGeom prst="RECTANGLE">
            <a:avLst/>
          </a:prstGeom>
          <a:solidFill>
            <a:srgbClr val="FF4D6A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Adversarial Loop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Build Critic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Introduce market friction testing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4D6A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Automate stress evaluation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4343400"/>
            <a:ext cx="2651760" cy="502920"/>
          </a:xfrm>
          <a:prstGeom prst="RECTANGLE">
            <a:avLst/>
          </a:prstGeom>
          <a:solidFill>
            <a:srgbClr val="FF4D6A">
              <a:alpha val="1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4343400"/>
            <a:ext cx="36576" cy="50292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4" name="Text 22"/>
          <p:cNvSpPr/>
          <p:nvPr/>
        </p:nvSpPr>
        <p:spPr>
          <a:xfrm>
            <a:off x="344728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Robustness Validation Framework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325880"/>
            <a:ext cx="2651760" cy="3520440"/>
          </a:xfrm>
          <a:prstGeom prst="RECTANGLE">
            <a:avLst/>
          </a:prstGeom>
          <a:solidFill>
            <a:srgbClr val="0D1B3E"/>
          </a:solidFill>
          <a:ln/>
          <a:effectLst>
            <a:outerShdw sx="100000" sy="100000" kx="0" ky="0" algn="bl" rotWithShape="0" blurRad="1524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25880"/>
            <a:ext cx="2651760" cy="502920"/>
          </a:xfrm>
          <a:prstGeom prst="RECTANGLE">
            <a:avLst/>
          </a:prstGeom>
          <a:solidFill>
            <a:srgbClr val="F5A623">
              <a:alpha val="2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1344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PHASE 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16002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Orchestration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Implement LangGraph workflow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26060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Enable end-to-end autonomy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7A9CC4"/>
                </a:solidFill>
              </a:rPr>
              <a:t>Schedule research cycles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4343400"/>
            <a:ext cx="2651760" cy="502920"/>
          </a:xfrm>
          <a:prstGeom prst="RECTANGLE">
            <a:avLst/>
          </a:prstGeom>
          <a:solidFill>
            <a:srgbClr val="F5A623">
              <a:alpha val="1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0" y="4343400"/>
            <a:ext cx="36576" cy="502920"/>
          </a:xfrm>
          <a:prstGeom prst="RECTANGL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327648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Fully Autonomous Quant Lab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54680" y="26517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080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35040" y="26517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6080"/>
                </a:solidFill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ANGLE">
            <a:avLst/>
          </a:prstGeom>
          <a:solidFill>
            <a:srgbClr val="0A84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36576" cy="201168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237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A84FF"/>
                </a:solidFill>
              </a:rPr>
              <a:t>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Research Automation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Alpha Manufacturing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1371600"/>
            <a:ext cx="2743200" cy="1005840"/>
          </a:xfrm>
          <a:prstGeom prst="RECTANGLE">
            <a:avLst/>
          </a:prstGeom>
          <a:solidFill>
            <a:srgbClr val="0A84FF">
              <a:alpha val="25000"/>
            </a:srgbClr>
          </a:solidFill>
          <a:ln/>
          <a:effectLst>
            <a:outerShdw sx="100000" sy="100000" kx="0" ky="0" algn="bl" rotWithShape="0" blurRad="190500" dist="381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0" y="1371600"/>
            <a:ext cx="36576" cy="1005840"/>
          </a:xfrm>
          <a:prstGeom prst="RECTANGLE">
            <a:avLst/>
          </a:prstGeom>
          <a:solidFill>
            <a:srgbClr val="0A84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37160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VAULT OF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</a:rPr>
              <a:t>VALIDATED ALPHA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463040" cy="457200"/>
          </a:xfrm>
          <a:prstGeom prst="ROUNDED_RECTANGLE">
            <a:avLst>
              <a:gd name="adj" fmla="val 14000"/>
            </a:avLst>
          </a:prstGeom>
          <a:solidFill>
            <a:srgbClr val="0A84FF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CREATOR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38528" y="2331720"/>
            <a:ext cx="1261872" cy="0"/>
          </a:xfrm>
          <a:prstGeom prst="LINE">
            <a:avLst/>
          </a:prstGeom>
          <a:noFill/>
          <a:ln w="19050">
            <a:solidFill>
              <a:srgbClr val="0A8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2402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84FF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463040" cy="457200"/>
          </a:xfrm>
          <a:prstGeom prst="ROUNDED_RECTANGLE">
            <a:avLst>
              <a:gd name="adj" fmla="val 14000"/>
            </a:avLst>
          </a:prstGeom>
          <a:solidFill>
            <a:srgbClr val="FF4D6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CRITIC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38528" y="3246120"/>
            <a:ext cx="1261872" cy="0"/>
          </a:xfrm>
          <a:prstGeom prst="LINE">
            <a:avLst/>
          </a:prstGeom>
          <a:noFill/>
          <a:ln w="19050">
            <a:solidFill>
              <a:srgbClr val="FF4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3154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6A"/>
                </a:solidFill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1463040" cy="457200"/>
          </a:xfrm>
          <a:prstGeom prst="ROUNDED_RECTANGLE">
            <a:avLst>
              <a:gd name="adj" fmla="val 14000"/>
            </a:avLst>
          </a:prstGeom>
          <a:solidFill>
            <a:srgbClr val="F5A623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JUDGE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38528" y="4160520"/>
            <a:ext cx="1261872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35808" y="40690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A623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56032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417320"/>
            <a:ext cx="36576" cy="685800"/>
          </a:xfrm>
          <a:prstGeom prst="RECTANGLE">
            <a:avLst/>
          </a:prstGeom>
          <a:solidFill>
            <a:srgbClr val="00C2CB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1490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Sharpe Ratio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764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Risk-adjusted return quality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2377440"/>
            <a:ext cx="256032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2377440"/>
            <a:ext cx="36576" cy="685800"/>
          </a:xfrm>
          <a:prstGeom prst="RECTANGLE">
            <a:avLst/>
          </a:prstGeom>
          <a:solidFill>
            <a:srgbClr val="FF4D6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Max Drawdown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2724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Downside risk exposure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337560"/>
            <a:ext cx="2560320" cy="685800"/>
          </a:xfrm>
          <a:prstGeom prst="RECTANGLE">
            <a:avLst/>
          </a:prstGeom>
          <a:solidFill>
            <a:srgbClr val="0D1B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3337560"/>
            <a:ext cx="36576" cy="685800"/>
          </a:xfrm>
          <a:prstGeom prst="RECTANGLE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3410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Robustness Score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CC4"/>
                </a:solidFill>
              </a:rPr>
              <a:t>Friction + stability + survival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4622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CC4"/>
                </a:solidFill>
              </a:rPr>
              <a:t>An autonomous scientific research system capable of discovering, challenging, and validating investment strategies faster and more rigorously than traditional human-led quantitative research teams.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080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Quant Lab: Adversarial Alpha Discovery</dc:title>
  <dc:subject>PptxGenJS Presentation</dc:subject>
  <dc:creator>PptxGenJS</dc:creator>
  <cp:lastModifiedBy>PptxGenJS</cp:lastModifiedBy>
  <cp:revision>1</cp:revision>
  <dcterms:created xsi:type="dcterms:W3CDTF">2026-06-03T05:20:58Z</dcterms:created>
  <dcterms:modified xsi:type="dcterms:W3CDTF">2026-06-03T05:20:58Z</dcterms:modified>
</cp:coreProperties>
</file>